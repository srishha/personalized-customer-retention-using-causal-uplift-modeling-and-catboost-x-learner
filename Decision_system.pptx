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Comfortaa Light"/>
      <p:regular r:id="rId15"/>
      <p:bold r:id="rId16"/>
    </p:embeddedFont>
    <p:embeddedFont>
      <p:font typeface="Raleway"/>
      <p:bold r:id="rId17"/>
      <p:boldItalic r:id="rId18"/>
    </p:embeddedFont>
    <p:embeddedFont>
      <p:font typeface="Raleway Medium"/>
      <p:regular r:id="rId19"/>
      <p:bold r:id="rId20"/>
      <p:italic r:id="rId21"/>
      <p:boldItalic r:id="rId22"/>
    </p:embeddedFont>
    <p:embeddedFont>
      <p:font typeface="Comfortaa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NQug4dgaWhgnSFrojum/Ci1zY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Medium-bold.fntdata"/><Relationship Id="rId11" Type="http://schemas.openxmlformats.org/officeDocument/2006/relationships/slide" Target="slides/slide7.xml"/><Relationship Id="rId22" Type="http://schemas.openxmlformats.org/officeDocument/2006/relationships/font" Target="fonts/RalewayMedium-boldItalic.fntdata"/><Relationship Id="rId10" Type="http://schemas.openxmlformats.org/officeDocument/2006/relationships/slide" Target="slides/slide6.xml"/><Relationship Id="rId21" Type="http://schemas.openxmlformats.org/officeDocument/2006/relationships/font" Target="fonts/RalewayMedium-italic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omfortaaLight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ComfortaaLight-bold.fntdata"/><Relationship Id="rId5" Type="http://schemas.openxmlformats.org/officeDocument/2006/relationships/slide" Target="slides/slide1.xml"/><Relationship Id="rId19" Type="http://schemas.openxmlformats.org/officeDocument/2006/relationships/font" Target="fonts/RalewayMedium-regular.fntdata"/><Relationship Id="rId6" Type="http://schemas.openxmlformats.org/officeDocument/2006/relationships/slide" Target="slides/slide2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540023" y="497012"/>
            <a:ext cx="4634954" cy="1553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400"/>
              <a:buFont typeface="Comfortaa"/>
              <a:buNone/>
            </a:pPr>
            <a:r>
              <a:rPr b="1" i="0" lang="en-US" sz="24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Personalized Customer Retention using Causal Uplift Modeling, CatBoost X-Learner &amp; Generative AI RAG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0023" y="2320256"/>
            <a:ext cx="3737400" cy="212400"/>
          </a:xfrm>
          <a:prstGeom prst="roundRect">
            <a:avLst>
              <a:gd fmla="val 50000" name="adj"/>
            </a:avLst>
          </a:prstGeom>
          <a:solidFill>
            <a:srgbClr val="4D4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70788" y="2403951"/>
            <a:ext cx="40269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50"/>
              <a:buFont typeface="Raleway Medium"/>
              <a:buNone/>
            </a:pPr>
            <a:r>
              <a:rPr b="0" i="0" lang="en-US" sz="8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AI-POWERED CUSTOMER RETENTION DECISION SUPPORT SYSTEM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0023" y="2595711"/>
            <a:ext cx="4634954" cy="426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00"/>
              <a:buFont typeface="Raleway"/>
              <a:buNone/>
            </a:pPr>
            <a:r>
              <a:rPr b="1" i="0" lang="en-US" sz="11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Project Vision:</a:t>
            </a:r>
            <a:r>
              <a:rPr b="0" i="0" lang="en-US" sz="11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From predicting who may churn to identifying who should receive a retention intervention.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0023" y="3164607"/>
            <a:ext cx="4634954" cy="1481807"/>
          </a:xfrm>
          <a:prstGeom prst="roundRect">
            <a:avLst>
              <a:gd fmla="val 14156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40023" y="3164607"/>
            <a:ext cx="4634954" cy="763042"/>
          </a:xfrm>
          <a:custGeom>
            <a:rect b="b" l="l" r="r" t="t"/>
            <a:pathLst>
              <a:path extrusionOk="0" h="763042" w="4634954">
                <a:moveTo>
                  <a:pt x="174799" y="0"/>
                </a:moveTo>
                <a:lnTo>
                  <a:pt x="4460156" y="0"/>
                </a:lnTo>
                <a:cubicBezTo>
                  <a:pt x="4506516" y="0"/>
                  <a:pt x="4550976" y="18416"/>
                  <a:pt x="4583758" y="51197"/>
                </a:cubicBezTo>
                <a:cubicBezTo>
                  <a:pt x="4616539" y="83979"/>
                  <a:pt x="4634955" y="128439"/>
                  <a:pt x="4634955" y="174799"/>
                </a:cubicBezTo>
                <a:lnTo>
                  <a:pt x="4634954" y="763042"/>
                </a:lnTo>
                <a:lnTo>
                  <a:pt x="0" y="763042"/>
                </a:lnTo>
                <a:lnTo>
                  <a:pt x="0" y="174799"/>
                </a:lnTo>
                <a:cubicBezTo>
                  <a:pt x="0" y="78260"/>
                  <a:pt x="78260" y="0"/>
                  <a:pt x="174799" y="0"/>
                </a:cubicBez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79847" y="3304431"/>
            <a:ext cx="435530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79847" y="3574628"/>
            <a:ext cx="4355306" cy="21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00"/>
              <a:buFont typeface="Raleway Medium"/>
              <a:buNone/>
            </a:pPr>
            <a:r>
              <a:rPr b="0" i="0" lang="en-US" sz="11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Srishha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0023" y="3927649"/>
            <a:ext cx="4634954" cy="718765"/>
          </a:xfrm>
          <a:custGeom>
            <a:rect b="b" l="l" r="r" t="t"/>
            <a:pathLst>
              <a:path extrusionOk="0" h="718765" w="4634954">
                <a:moveTo>
                  <a:pt x="0" y="0"/>
                </a:moveTo>
                <a:lnTo>
                  <a:pt x="4634954" y="0"/>
                </a:lnTo>
                <a:lnTo>
                  <a:pt x="4634954" y="543967"/>
                </a:lnTo>
                <a:cubicBezTo>
                  <a:pt x="4634954" y="640506"/>
                  <a:pt x="4556694" y="718766"/>
                  <a:pt x="4460155" y="718766"/>
                </a:cubicBezTo>
                <a:lnTo>
                  <a:pt x="174799" y="718765"/>
                </a:lnTo>
                <a:cubicBezTo>
                  <a:pt x="78260" y="718765"/>
                  <a:pt x="0" y="640505"/>
                  <a:pt x="0" y="543966"/>
                </a:cubicBezTo>
                <a:lnTo>
                  <a:pt x="0" y="0"/>
                </a:lnTo>
                <a:close/>
              </a:path>
            </a:pathLst>
          </a:cu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40023" y="3927649"/>
            <a:ext cx="4634954" cy="19050"/>
          </a:xfrm>
          <a:prstGeom prst="roundRect">
            <a:avLst>
              <a:gd fmla="val 50000" name="adj"/>
            </a:avLst>
          </a:prstGeom>
          <a:solidFill>
            <a:srgbClr val="5F5F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79847" y="4067473"/>
            <a:ext cx="435530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Course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79847" y="4312369"/>
            <a:ext cx="4355306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POST GRADUATE PROGRAM IN ML AND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40023" y="430783"/>
            <a:ext cx="4634954" cy="629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950"/>
              <a:buFont typeface="Comfortaa"/>
              <a:buNone/>
            </a:pPr>
            <a:r>
              <a:rPr b="1" i="0" lang="en-US" sz="19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Problem Statement &amp; Business Motivation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0023" y="1185118"/>
            <a:ext cx="4634954" cy="471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50"/>
              <a:buFont typeface="Raleway Medium"/>
              <a:buNone/>
            </a:pPr>
            <a:r>
              <a:rPr b="0" i="0" lang="en-US" sz="8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Traditional churn prediction asks </a:t>
            </a:r>
            <a:r>
              <a:rPr b="1" i="0" lang="en-US" sz="8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"Who is likely to churn?"</a:t>
            </a:r>
            <a:r>
              <a:rPr b="0" i="0" lang="en-US" sz="8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but businesses actually need to know: </a:t>
            </a:r>
            <a:r>
              <a:rPr b="1" i="0" lang="en-US" sz="85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"Who should receive a retention offer to maximize incremental business value?"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23" y="1750442"/>
            <a:ext cx="4634954" cy="61957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724719" y="1877988"/>
            <a:ext cx="4322713" cy="157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Comfortaa"/>
              <a:buNone/>
            </a:pPr>
            <a:r>
              <a:rPr b="1" i="0" lang="en-US" sz="9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High Risk ≠ High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24719" y="2085231"/>
            <a:ext cx="4322713" cy="157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50"/>
              <a:buFont typeface="Raleway Medium"/>
              <a:buNone/>
            </a:pPr>
            <a:r>
              <a:rPr b="0" i="0" lang="en-US" sz="8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high churn probability does not mean the customer will respond to an offer.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23" y="2453208"/>
            <a:ext cx="4634954" cy="7768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724719" y="2580754"/>
            <a:ext cx="4322713" cy="157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Comfortaa"/>
              <a:buNone/>
            </a:pPr>
            <a:r>
              <a:rPr b="1" i="0" lang="en-US" sz="9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Unnecessary 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24719" y="2787997"/>
            <a:ext cx="4322713" cy="314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50"/>
              <a:buFont typeface="Raleway Medium"/>
              <a:buNone/>
            </a:pPr>
            <a:r>
              <a:rPr b="0" i="0" lang="en-US" sz="8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Some customers stay without intervention; others churn regardless. Blanket discounts inflate costs.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23" y="3313212"/>
            <a:ext cx="4634954" cy="61957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24719" y="3440757"/>
            <a:ext cx="4322713" cy="157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50"/>
              <a:buFont typeface="Comfortaa"/>
              <a:buNone/>
            </a:pPr>
            <a:r>
              <a:rPr b="1" i="0" lang="en-US" sz="9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ROI, Not Just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4719" y="3648001"/>
            <a:ext cx="4322713" cy="157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50"/>
              <a:buFont typeface="Raleway Medium"/>
              <a:buNone/>
            </a:pPr>
            <a:r>
              <a:rPr b="0" i="0" lang="en-US" sz="8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Businesses need to maximize retention ROI — not simply predict churn.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0023" y="4026396"/>
            <a:ext cx="4634954" cy="686321"/>
          </a:xfrm>
          <a:prstGeom prst="roundRect">
            <a:avLst>
              <a:gd fmla="val 24766" name="adj"/>
            </a:avLst>
          </a:prstGeom>
          <a:solidFill>
            <a:srgbClr val="80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281" y="4148286"/>
            <a:ext cx="141610" cy="11325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908149" y="4137868"/>
            <a:ext cx="4153570" cy="471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aleway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Objective:</a:t>
            </a:r>
            <a:r>
              <a:rPr b="0" i="0" lang="en-US" sz="85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Identify customers whose behavior is most likely to improve </a:t>
            </a:r>
            <a:r>
              <a:rPr b="0" i="1" lang="en-US" sz="85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because of</a:t>
            </a:r>
            <a:r>
              <a:rPr b="0" i="0" lang="en-US" sz="85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 retention intervention, and prioritize them by expected business value.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350"/>
              <a:buFont typeface="Comfortaa"/>
              <a:buNone/>
            </a:pPr>
            <a:r>
              <a:rPr b="1" i="0" lang="en-US" sz="1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Overall Solution Approach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0023" y="715714"/>
            <a:ext cx="8521154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 end-to-end pipeline transforms raw customer data into grounded, actionable retention decisions.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730" y="851669"/>
            <a:ext cx="6230466" cy="429361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1657657" y="3523311"/>
            <a:ext cx="1612767" cy="20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Data Prep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136236" y="1745487"/>
            <a:ext cx="1612767" cy="20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Group Split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288609" y="4051365"/>
            <a:ext cx="1612767" cy="20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Uplift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99948" y="2220119"/>
            <a:ext cx="1612767" cy="20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Explain &amp; ROI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0023" y="5188669"/>
            <a:ext cx="8521154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Each stage builds on the last: </a:t>
            </a: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Prediction → Causal Effect → Explanation → Business Decision → Generative AI Recommendation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ensuring every output is interpretable, actionable, and grounded in business context.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350"/>
              <a:buFont typeface="Comfortaa"/>
              <a:buNone/>
            </a:pPr>
            <a:r>
              <a:rPr b="1" i="0" lang="en-US" sz="1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Causal Uplift Modeling: CatBoost X-Learner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739825"/>
            <a:ext cx="3937918" cy="393791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4670822" y="2145655"/>
            <a:ext cx="393791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Why CatBoost?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670822" y="2291358"/>
            <a:ext cx="3937918" cy="410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Handles nonlinear relationships in customer behavior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Native support for categorical features (contract type, internet service)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Robust on tabular data with heterogeneous patterns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Captures diverse customer response profiles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670822" y="2740596"/>
            <a:ext cx="393791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Four Uplift Segments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670822" y="2886298"/>
            <a:ext cx="3937918" cy="410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"/>
              <a:buChar char="•"/>
            </a:pP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Persuadables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respond only if treated </a:t>
            </a:r>
            <a:r>
              <a:rPr b="0" i="0" lang="en-US" sz="600" u="none" cap="none" strike="noStrike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← Highest-value targets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"/>
              <a:buChar char="•"/>
            </a:pP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Sure Things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stay regardless of treatment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"/>
              <a:buChar char="•"/>
            </a:pP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Lost Causes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churn regardless of treatment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"/>
              <a:buChar char="•"/>
            </a:pP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Sleeping Dogs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may churn because of treatment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350"/>
              <a:buFont typeface="Comfortaa"/>
              <a:buNone/>
            </a:pPr>
            <a:r>
              <a:rPr b="1" i="0" lang="en-US" sz="1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Customer Segmentation, SHAP &amp; Decision Explainability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739825"/>
            <a:ext cx="3937918" cy="393791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4670822" y="1965350"/>
            <a:ext cx="393791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Segmentation Logic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670822" y="2111053"/>
            <a:ext cx="393791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Customers are mapped by </a:t>
            </a: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churn risk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(X-axis) and </a:t>
            </a:r>
            <a:r>
              <a:rPr b="1" i="0" lang="en-US" sz="6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treatment uplift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(Y-axis), enabling differentiated intervention strategies per segment.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70822" y="2334741"/>
            <a:ext cx="393791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SHAP Explainability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670822" y="2480444"/>
            <a:ext cx="393791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SHAP answers: </a:t>
            </a:r>
            <a:r>
              <a:rPr b="0" i="1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"Why does the model believe this customer is responsive?"</a:t>
            </a: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Example feature contributions include: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670822" y="2700263"/>
            <a:ext cx="3937918" cy="410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Contract type &amp; tenure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Monthly charges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Internet service type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Support &amp; service usage patterns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670822" y="3154338"/>
            <a:ext cx="3937918" cy="293043"/>
          </a:xfrm>
          <a:prstGeom prst="roundRect">
            <a:avLst>
              <a:gd fmla="val 39492" name="adj"/>
            </a:avLst>
          </a:prstGeom>
          <a:solidFill>
            <a:srgbClr val="80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915" y="3216101"/>
            <a:ext cx="96441" cy="7709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4921448" y="3208288"/>
            <a:ext cx="361019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SHAP provides </a:t>
            </a:r>
            <a:r>
              <a:rPr b="1" i="0" lang="en-US" sz="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customer-level model transparency</a:t>
            </a:r>
            <a:r>
              <a:rPr b="0" i="0" lang="en-US" sz="60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enabling business users to trust and act on model outputs.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540023" y="514350"/>
            <a:ext cx="8063954" cy="29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850"/>
              <a:buFont typeface="Comfortaa"/>
              <a:buNone/>
            </a:pPr>
            <a:r>
              <a:rPr b="1" i="0" lang="en-US" sz="18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ROI-Driven Retention Strategy &amp; Generative AI / RAG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0023" y="991344"/>
            <a:ext cx="3902571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ROI Optimization Framework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40023" y="1211610"/>
            <a:ext cx="3902571" cy="495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system ranks customers not by churn probability alone, but by expected incremental business value: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"/>
              <a:buNone/>
            </a:pPr>
            <a:r>
              <a:rPr b="1" i="0" lang="en-US" sz="8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High Uplift + High Value + Positive ROI → High Priority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06169" y="991344"/>
            <a:ext cx="3902571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Gemini + RAG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706169" y="1220688"/>
            <a:ext cx="212154" cy="132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Comfortaa Light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706169" y="1386706"/>
            <a:ext cx="3902571" cy="14288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706169" y="1468264"/>
            <a:ext cx="3902571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Customer Profile + Model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706169" y="1768078"/>
            <a:ext cx="212154" cy="132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Comfortaa Light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06169" y="1934096"/>
            <a:ext cx="3902571" cy="14288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706169" y="2015654"/>
            <a:ext cx="3902571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Business Documents &amp; Retention Policies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706169" y="2315468"/>
            <a:ext cx="212154" cy="132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Comfortaa Light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706169" y="2481486"/>
            <a:ext cx="3902571" cy="14288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706169" y="2563044"/>
            <a:ext cx="3902571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RAG Retrieval → Relevant Context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706169" y="2862858"/>
            <a:ext cx="212154" cy="132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Comfortaa Light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706169" y="3028876"/>
            <a:ext cx="3902571" cy="14288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706169" y="3110433"/>
            <a:ext cx="3902571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Gemini Generative AI → Grounded Recommendation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706169" y="3419326"/>
            <a:ext cx="3902571" cy="470743"/>
          </a:xfrm>
          <a:prstGeom prst="roundRect">
            <a:avLst>
              <a:gd fmla="val 33803" name="adj"/>
            </a:avLst>
          </a:prstGeom>
          <a:solidFill>
            <a:srgbClr val="806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209" y="3535487"/>
            <a:ext cx="132606" cy="1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5050854" y="3511451"/>
            <a:ext cx="3451845" cy="286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aleway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RAG connects model insights with business knowledge</a:t>
            </a:r>
            <a:r>
              <a:rPr b="0" i="0" lang="en-US" sz="800" u="none" cap="none" strike="noStrik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— enabling natural-language Q&amp;A on targeting, strategy, and uplift drivers.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23" y="4054078"/>
            <a:ext cx="2639318" cy="57499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717500" y="4174406"/>
            <a:ext cx="2341513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Uplift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17500" y="4365501"/>
            <a:ext cx="2341513" cy="143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Likelihood of responding to treatment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2267" y="4054078"/>
            <a:ext cx="2639392" cy="5749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3429744" y="4174406"/>
            <a:ext cx="2341587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Customer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429744" y="4365501"/>
            <a:ext cx="2341587" cy="143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Expected retention 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4585" y="4054078"/>
            <a:ext cx="2639392" cy="57499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6142062" y="4174406"/>
            <a:ext cx="2341587" cy="147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Comfortaa"/>
              <a:buNone/>
            </a:pPr>
            <a:r>
              <a:rPr b="1" i="0" lang="en-US" sz="9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Offer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142062" y="4365501"/>
            <a:ext cx="2341587" cy="143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800"/>
              <a:buFont typeface="Raleway Medium"/>
              <a:buNone/>
            </a:pPr>
            <a:r>
              <a:rPr b="0" i="0" lang="en-US" sz="8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Intervention expense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540023" y="458539"/>
            <a:ext cx="8063954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000"/>
              <a:buFont typeface="Comfortaa"/>
              <a:buNone/>
            </a:pPr>
            <a:r>
              <a:rPr b="1" i="0" lang="en-US" sz="20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Streamlit AI Decision Support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0023" y="953542"/>
            <a:ext cx="8521154" cy="1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Raleway Medium"/>
              <a:buNone/>
            </a:pP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dashboard converts complex ML and causal insights into </a:t>
            </a:r>
            <a:r>
              <a:rPr b="1" i="0" lang="en-US" sz="900" u="none" cap="none" strike="noStrike">
                <a:solidFill>
                  <a:srgbClr val="D7D4CC"/>
                </a:solidFill>
                <a:latin typeface="Raleway"/>
                <a:ea typeface="Raleway"/>
                <a:cs typeface="Raleway"/>
                <a:sym typeface="Raleway"/>
              </a:rPr>
              <a:t>actionable business decisions</a:t>
            </a: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through a structured user journey.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1213172"/>
            <a:ext cx="578644" cy="694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1205433" y="1328886"/>
            <a:ext cx="7398544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00"/>
              <a:buFont typeface="Comfortaa"/>
              <a:buNone/>
            </a:pPr>
            <a:r>
              <a:rPr b="1" i="0" lang="en-US" sz="1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Select Customer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205433" y="1541636"/>
            <a:ext cx="7398544" cy="1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Raleway Medium"/>
              <a:buNone/>
            </a:pP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View profile, contract &amp;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23" y="1907530"/>
            <a:ext cx="578644" cy="694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1205433" y="2023244"/>
            <a:ext cx="7398544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00"/>
              <a:buFont typeface="Comfortaa"/>
              <a:buNone/>
            </a:pPr>
            <a:r>
              <a:rPr b="1" i="0" lang="en-US" sz="1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View Risk &amp; Uplift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205433" y="2235994"/>
            <a:ext cx="7398544" cy="1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Raleway Medium"/>
              <a:buNone/>
            </a:pP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Churn probability + uplift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023" y="2601888"/>
            <a:ext cx="578644" cy="694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1205433" y="2717602"/>
            <a:ext cx="7398544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00"/>
              <a:buFont typeface="Comfortaa"/>
              <a:buNone/>
            </a:pPr>
            <a:r>
              <a:rPr b="1" i="0" lang="en-US" sz="1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Understand Drivers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205433" y="2930351"/>
            <a:ext cx="7398544" cy="1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Raleway Medium"/>
              <a:buNone/>
            </a:pP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SHAP feature contributions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023" y="3296245"/>
            <a:ext cx="578644" cy="69435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1205433" y="3411959"/>
            <a:ext cx="7398544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00"/>
              <a:buFont typeface="Comfortaa"/>
              <a:buNone/>
            </a:pPr>
            <a:r>
              <a:rPr b="1" i="0" lang="en-US" sz="1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Evaluate Business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205433" y="3624709"/>
            <a:ext cx="7398544" cy="1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Raleway Medium"/>
              <a:buNone/>
            </a:pP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Expected incremental value &amp; ROI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0023" y="3990603"/>
            <a:ext cx="578644" cy="69435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205433" y="4106317"/>
            <a:ext cx="7398544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00"/>
              <a:buFont typeface="Comfortaa"/>
              <a:buNone/>
            </a:pPr>
            <a:r>
              <a:rPr b="1" i="0" lang="en-US" sz="10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Receive AI Recommendation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05433" y="4319067"/>
            <a:ext cx="7398544" cy="1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900"/>
              <a:buFont typeface="Raleway Medium"/>
              <a:buNone/>
            </a:pPr>
            <a:r>
              <a:rPr b="0" i="0" lang="en-US" sz="9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RAG-grounded intervention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540023" y="433983"/>
            <a:ext cx="8063954" cy="415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2600"/>
              <a:buFont typeface="Comfortaa"/>
              <a:buNone/>
            </a:pPr>
            <a:r>
              <a:rPr b="1" i="0" lang="en-US" sz="26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Key Findings &amp; Business Impact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40023" y="1138833"/>
            <a:ext cx="2591395" cy="3570684"/>
          </a:xfrm>
          <a:prstGeom prst="roundRect">
            <a:avLst>
              <a:gd fmla="val 8653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89446" y="1288256"/>
            <a:ext cx="2292548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Comfortaa"/>
              <a:buNone/>
            </a:pPr>
            <a:r>
              <a:rPr b="1" i="0" lang="en-US" sz="13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Machine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89446" y="1582713"/>
            <a:ext cx="2292548" cy="2977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Uplift modeling offers a decision-oriented alternative to churn prediction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Customer treatment responsiveness is heterogeneous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CatBoost handles nonlinear tabular customer behavior effectively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SHAP improves model interpretability at the individual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276228" y="1138833"/>
            <a:ext cx="2591470" cy="3570684"/>
          </a:xfrm>
          <a:prstGeom prst="roundRect">
            <a:avLst>
              <a:gd fmla="val 8652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425651" y="1288256"/>
            <a:ext cx="2292623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Comfortaa"/>
              <a:buNone/>
            </a:pPr>
            <a:r>
              <a:rPr b="1" i="0" lang="en-US" sz="13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Business Impact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425651" y="1582713"/>
            <a:ext cx="2292623" cy="274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Not every high-risk customer should receive an incentive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Persuadable customers are the highest-value retention targets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ROI-based targeting reduces unnecessary campaign spend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Personalized interventions improve overall campaign efficiency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012507" y="1138833"/>
            <a:ext cx="2591395" cy="3570684"/>
          </a:xfrm>
          <a:prstGeom prst="roundRect">
            <a:avLst>
              <a:gd fmla="val 8653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161931" y="1288256"/>
            <a:ext cx="2292548" cy="20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300"/>
              <a:buFont typeface="Comfortaa"/>
              <a:buNone/>
            </a:pPr>
            <a:r>
              <a:rPr b="1" i="0" lang="en-US" sz="13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Generative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161931" y="1582713"/>
            <a:ext cx="2292548" cy="2220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RAG provides contextual business knowledge to the AI assistant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Gemini converts analytical outputs into understandable recommendations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680" lvl="0" marL="2336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50"/>
              <a:buFont typeface="Raleway Medium"/>
              <a:buChar char="•"/>
            </a:pPr>
            <a:r>
              <a:rPr b="0" i="0" lang="en-US" sz="11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Streamlit delivers an accessible, interactive decision-support interface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540023" y="458614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350"/>
              <a:buFont typeface="Comfortaa"/>
              <a:buNone/>
            </a:pPr>
            <a:r>
              <a:rPr b="1" i="0" lang="en-US" sz="1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Future Improvements &amp; Next Steps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0023" y="750019"/>
            <a:ext cx="8521154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structured roadmap from validation to production deployment.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0023" y="885974"/>
            <a:ext cx="4012704" cy="753070"/>
          </a:xfrm>
          <a:prstGeom prst="roundRect">
            <a:avLst>
              <a:gd fmla="val 153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17116" y="963067"/>
            <a:ext cx="231428" cy="231428"/>
          </a:xfrm>
          <a:prstGeom prst="ellipse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740" y="1026691"/>
            <a:ext cx="104105" cy="1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617116" y="1233041"/>
            <a:ext cx="385851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Business Optimization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17116" y="1363340"/>
            <a:ext cx="385851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Introduce multiple retention offers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Integrate Customer Lifetime Value (CLV)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91273" y="885974"/>
            <a:ext cx="4012704" cy="753070"/>
          </a:xfrm>
          <a:prstGeom prst="roundRect">
            <a:avLst>
              <a:gd fmla="val 153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668366" y="963067"/>
            <a:ext cx="231428" cy="231428"/>
          </a:xfrm>
          <a:prstGeom prst="ellipse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1990" y="1026691"/>
            <a:ext cx="104105" cy="1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4668366" y="1233041"/>
            <a:ext cx="385851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Generative AI &amp; RAG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668366" y="1363340"/>
            <a:ext cx="385851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Add citations &amp; source attribution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Implement hallucination guardrails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40023" y="1677591"/>
            <a:ext cx="8063954" cy="753070"/>
          </a:xfrm>
          <a:prstGeom prst="roundRect">
            <a:avLst>
              <a:gd fmla="val 15368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17116" y="1754684"/>
            <a:ext cx="231428" cy="231428"/>
          </a:xfrm>
          <a:prstGeom prst="ellipse">
            <a:avLst/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740" y="1818308"/>
            <a:ext cx="104105" cy="10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617116" y="2024658"/>
            <a:ext cx="790976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Production Deployment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17116" y="2154957"/>
            <a:ext cx="790976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Real-time scoring &amp; CRM integration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Char char="•"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Automated campaign triggering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023" y="2474044"/>
            <a:ext cx="8063954" cy="2210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1512058" y="3272936"/>
            <a:ext cx="1218601" cy="387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Current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512058" y="3722896"/>
            <a:ext cx="1218601" cy="392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Raleway Medium"/>
              <a:buNone/>
            </a:pPr>
            <a:r>
              <a:rPr b="0" i="0" lang="en-US" sz="10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Baseline uplift model and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156739" y="3445550"/>
            <a:ext cx="1218601" cy="19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156739" y="3701562"/>
            <a:ext cx="1218601" cy="26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Raleway Medium"/>
              <a:buNone/>
            </a:pPr>
            <a:r>
              <a:rPr b="0" i="0" lang="en-US" sz="10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A/B testing and causal validation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832452" y="3272936"/>
            <a:ext cx="1218601" cy="19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832452" y="3528948"/>
            <a:ext cx="1218601" cy="392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Raleway Medium"/>
              <a:buNone/>
            </a:pPr>
            <a:r>
              <a:rPr b="0" i="0" lang="en-US" sz="10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CLV integration and multi-offer 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92649" y="3314635"/>
            <a:ext cx="1218601" cy="193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200"/>
              <a:buFont typeface="Comfortaa"/>
              <a:buNone/>
            </a:pPr>
            <a:r>
              <a:rPr b="1" i="0" lang="en-US" sz="12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92649" y="3570647"/>
            <a:ext cx="1218601" cy="392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050"/>
              <a:buFont typeface="Raleway Medium"/>
              <a:buNone/>
            </a:pPr>
            <a:r>
              <a:rPr b="0" i="0" lang="en-US" sz="105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Real-time scoring and CRM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540023" y="424309"/>
            <a:ext cx="80639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1350"/>
              <a:buFont typeface="Comfortaa"/>
              <a:buNone/>
            </a:pPr>
            <a:r>
              <a:rPr b="1" i="0" lang="en-US" sz="135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Why This Project Matters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23" y="715714"/>
            <a:ext cx="154260" cy="1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540023" y="918195"/>
            <a:ext cx="265583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Business Value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40023" y="1048494"/>
            <a:ext cx="265583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Better targeting, lower unnecessary incentives, and higher potential ROI through ROI-ranked prioritization.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4081" y="715714"/>
            <a:ext cx="154260" cy="1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3244081" y="918195"/>
            <a:ext cx="265583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Causal ML Value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3244081" y="1048494"/>
            <a:ext cx="265583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Moves beyond predicting churn toward estimating the true impact of an intervention.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8139" y="715714"/>
            <a:ext cx="154260" cy="1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5948139" y="918195"/>
            <a:ext cx="265583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Explainability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948139" y="1048494"/>
            <a:ext cx="265583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SHAP helps business users understand and trust model decisions at the customer level.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0023" y="1310729"/>
            <a:ext cx="154260" cy="1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/>
          <p:nvPr/>
        </p:nvSpPr>
        <p:spPr>
          <a:xfrm>
            <a:off x="540023" y="1513210"/>
            <a:ext cx="265583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Generative AI Value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540023" y="1643509"/>
            <a:ext cx="265583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Gemini + RAG transforms analytical outputs into grounded, natural-language recommendations.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4081" y="1310729"/>
            <a:ext cx="154260" cy="1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/>
          <p:nvPr/>
        </p:nvSpPr>
        <p:spPr>
          <a:xfrm>
            <a:off x="3244081" y="1513210"/>
            <a:ext cx="2655838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50"/>
              <a:buFont typeface="Comfortaa"/>
              <a:buNone/>
            </a:pPr>
            <a:r>
              <a:rPr b="1" i="0" lang="en-US" sz="6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Practical Value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244081" y="1643509"/>
            <a:ext cx="2655838" cy="1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Streamlit provides an interactive decision-support interface accessible to non-technical stakeholders.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44576" y="2070413"/>
            <a:ext cx="2892124" cy="289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2213572" y="2494943"/>
            <a:ext cx="1445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Predict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2180397" y="2785361"/>
            <a:ext cx="1445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aleway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Identify users at churn risk.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797600" y="2362860"/>
            <a:ext cx="10065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Estimate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578009" y="2696548"/>
            <a:ext cx="1445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aleway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Compute uplift as causal impact.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180411" y="3932117"/>
            <a:ext cx="1445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Explain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180411" y="4222421"/>
            <a:ext cx="1445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aleway Medium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Surface SHAP drivers for each user.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578009" y="3901942"/>
            <a:ext cx="1445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mfortaa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Optimize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578009" y="4166146"/>
            <a:ext cx="1445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aleway Medium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Rank actions by expected ROI.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55737" y="6445448"/>
            <a:ext cx="8405440" cy="92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600"/>
              <a:buFont typeface="Raleway Medium"/>
              <a:buNone/>
            </a:pPr>
            <a:r>
              <a:rPr b="0" i="0" lang="en-US" sz="6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"The project does not simply identify customers who may churn. It identifies customers for whom a retention intervention is most likely to create incremental value."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40023" y="6402065"/>
            <a:ext cx="9525" cy="179338"/>
          </a:xfrm>
          <a:prstGeom prst="roundRect">
            <a:avLst>
              <a:gd fmla="val 50000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339903" y="6624786"/>
            <a:ext cx="464195" cy="117202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FFE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386188" y="6647929"/>
            <a:ext cx="828824" cy="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450"/>
              <a:buFont typeface="Raleway Medium"/>
              <a:buNone/>
            </a:pPr>
            <a:r>
              <a:rPr b="0" i="0" lang="en-US" sz="450" u="none" cap="none" strike="noStrike">
                <a:solidFill>
                  <a:srgbClr val="FFE14D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2026-08-10T13:20:04Z</dcterms:created>
</cp:coreProperties>
</file>